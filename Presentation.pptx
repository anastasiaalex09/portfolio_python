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719"/>
    <a:srgbClr val="403B3E"/>
    <a:srgbClr val="A38B9C"/>
    <a:srgbClr val="734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5E249-4720-46C5-AE5B-536AAFE058F9}" v="682" dt="2025-12-11T10:12:15.266"/>
    <p1510:client id="{BCDB0E8C-1ED3-4151-948D-128478BCCD5B}" v="154" dt="2025-12-11T08:31:34.592"/>
    <p1510:client id="{FB2073B8-38FF-49CB-9C49-9CD83A0BF50F}" v="223" dt="2025-12-11T10:39:42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32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3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4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9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3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8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3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8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5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04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00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Коммерческое здание, архитектура, фасад, неб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29BAB1-9A1A-01AA-64ED-2CD1E16B0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5002" b="408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7438" y="3627138"/>
            <a:ext cx="5815500" cy="4171779"/>
          </a:xfrm>
        </p:spPr>
        <p:txBody>
          <a:bodyPr anchor="t">
            <a:normAutofit/>
          </a:bodyPr>
          <a:lstStyle/>
          <a:p>
            <a:pPr algn="ctr"/>
            <a:r>
              <a:rPr lang="ru-RU" sz="6000" b="1" dirty="0"/>
              <a:t>Исследование банковских клиентов</a:t>
            </a:r>
            <a:endParaRPr lang="ru-RU" b="1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56465" y="717036"/>
            <a:ext cx="3632475" cy="1003638"/>
          </a:xfrm>
        </p:spPr>
        <p:txBody>
          <a:bodyPr anchor="b">
            <a:normAutofit fontScale="85000" lnSpcReduction="10000"/>
          </a:bodyPr>
          <a:lstStyle/>
          <a:p>
            <a:r>
              <a:rPr lang="ru-RU" sz="2200" dirty="0"/>
              <a:t>Исследование выполнила Алексеева Анастасия в рамках курса по анализу данных.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6B0E31F-B5F2-B8CD-B36C-6D612D818B2F}"/>
              </a:ext>
            </a:extLst>
          </p:cNvPr>
          <p:cNvSpPr/>
          <p:nvPr/>
        </p:nvSpPr>
        <p:spPr>
          <a:xfrm>
            <a:off x="-4417" y="1104"/>
            <a:ext cx="12200832" cy="6855789"/>
          </a:xfrm>
          <a:prstGeom prst="rect">
            <a:avLst/>
          </a:prstGeom>
          <a:solidFill>
            <a:srgbClr val="734B67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F55A34FE-D484-A03C-BCCD-0A0E9B21C9BA}"/>
              </a:ext>
            </a:extLst>
          </p:cNvPr>
          <p:cNvCxnSpPr/>
          <p:nvPr/>
        </p:nvCxnSpPr>
        <p:spPr>
          <a:xfrm>
            <a:off x="6638925" y="3971924"/>
            <a:ext cx="914399" cy="91439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Объект 4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6F045D-4360-0EAC-A13D-5A8962E254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42" r="6364" b="-80"/>
          <a:stretch>
            <a:fillRect/>
          </a:stretch>
        </p:blipFill>
        <p:spPr>
          <a:xfrm>
            <a:off x="-10536" y="76019"/>
            <a:ext cx="12212511" cy="5253131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CE8005-C27E-E36C-692F-0E332353DB9A}"/>
              </a:ext>
            </a:extLst>
          </p:cNvPr>
          <p:cNvSpPr/>
          <p:nvPr/>
        </p:nvSpPr>
        <p:spPr>
          <a:xfrm flipV="1">
            <a:off x="16476" y="5018904"/>
            <a:ext cx="12189939" cy="39335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3FFDA1E-5118-13A3-6143-0B837EDD336C}"/>
              </a:ext>
            </a:extLst>
          </p:cNvPr>
          <p:cNvSpPr/>
          <p:nvPr/>
        </p:nvSpPr>
        <p:spPr>
          <a:xfrm>
            <a:off x="612432" y="3783997"/>
            <a:ext cx="337751" cy="29656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03397FD-8C0D-0A07-74C9-4E2CE287FC89}"/>
              </a:ext>
            </a:extLst>
          </p:cNvPr>
          <p:cNvSpPr/>
          <p:nvPr/>
        </p:nvSpPr>
        <p:spPr>
          <a:xfrm>
            <a:off x="3751820" y="1434927"/>
            <a:ext cx="306859" cy="27596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C7FEB26-8E0A-2BFA-EB98-600DD905A98B}"/>
              </a:ext>
            </a:extLst>
          </p:cNvPr>
          <p:cNvSpPr/>
          <p:nvPr/>
        </p:nvSpPr>
        <p:spPr>
          <a:xfrm>
            <a:off x="-4118" y="5340178"/>
            <a:ext cx="12210532" cy="153223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       </a:t>
            </a:r>
            <a:r>
              <a:rPr lang="ru-RU" sz="2400" b="1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Распределение клиентов банка по полу: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  <a:endParaRPr lang="ru-RU" sz="2400" b="1"/>
          </a:p>
          <a:p>
            <a:r>
              <a:rPr lang="ru-RU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      </a:t>
            </a:r>
            <a:r>
              <a:rPr lang="ru-RU" sz="160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</a:t>
            </a:r>
            <a:r>
              <a:rPr lang="ru-RU" sz="1600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Мужчины: </a:t>
            </a:r>
            <a:r>
              <a:rPr lang="ru-RU" sz="1600" b="1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637 790</a:t>
            </a:r>
            <a:r>
              <a:rPr lang="ru-RU" sz="1600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(72,3%)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r>
              <a:rPr lang="ru-RU" sz="160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        </a:t>
            </a:r>
            <a:r>
              <a:rPr lang="ru-RU" sz="1600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Женщины </a:t>
            </a:r>
            <a:r>
              <a:rPr lang="ru-RU" sz="1600" b="1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244 782</a:t>
            </a:r>
            <a:r>
              <a:rPr lang="ru-RU" sz="1600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(27,7%)</a:t>
            </a:r>
            <a:r>
              <a:rPr lang="ru-RU" sz="160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r>
              <a:rPr lang="ru-RU" sz="160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         </a:t>
            </a:r>
            <a:r>
              <a:rPr lang="ru-RU" sz="1600" baseline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Всего клиентов банка: </a:t>
            </a:r>
            <a:r>
              <a:rPr lang="ru-RU" sz="1600" b="1" baseline="0" dirty="0">
                <a:solidFill>
                  <a:srgbClr val="000000"/>
                </a:solidFill>
                <a:latin typeface="Arial"/>
                <a:ea typeface="Segoe UI"/>
                <a:cs typeface="Segoe UI"/>
              </a:rPr>
              <a:t>882 572</a:t>
            </a:r>
            <a:endParaRPr lang="ru-RU" sz="16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351DC-BFE0-286E-B926-733760F68AB9}"/>
              </a:ext>
            </a:extLst>
          </p:cNvPr>
          <p:cNvSpPr txBox="1"/>
          <p:nvPr/>
        </p:nvSpPr>
        <p:spPr>
          <a:xfrm>
            <a:off x="3487561" y="1304536"/>
            <a:ext cx="135251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1100" dirty="0"/>
              <a:t>Женщины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E6FC84-505E-7BCF-897A-BA83F2A08613}"/>
              </a:ext>
            </a:extLst>
          </p:cNvPr>
          <p:cNvSpPr txBox="1"/>
          <p:nvPr/>
        </p:nvSpPr>
        <p:spPr>
          <a:xfrm>
            <a:off x="464879" y="4027739"/>
            <a:ext cx="208398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1000" dirty="0"/>
              <a:t>Мужчины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5B73ABD-61A1-D0A3-8487-4659D36DB4AB}"/>
              </a:ext>
            </a:extLst>
          </p:cNvPr>
          <p:cNvSpPr/>
          <p:nvPr/>
        </p:nvSpPr>
        <p:spPr>
          <a:xfrm flipV="1">
            <a:off x="66676" y="4904343"/>
            <a:ext cx="12066371" cy="24919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988E4AD-2AF6-233F-3148-732C36EAD667}"/>
              </a:ext>
            </a:extLst>
          </p:cNvPr>
          <p:cNvSpPr/>
          <p:nvPr/>
        </p:nvSpPr>
        <p:spPr>
          <a:xfrm>
            <a:off x="-6694" y="188953"/>
            <a:ext cx="12220832" cy="16269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5EBEC3E-8471-7807-6B34-BE7F51F8957C}"/>
              </a:ext>
            </a:extLst>
          </p:cNvPr>
          <p:cNvCxnSpPr/>
          <p:nvPr/>
        </p:nvCxnSpPr>
        <p:spPr>
          <a:xfrm flipH="1">
            <a:off x="12184535" y="4891"/>
            <a:ext cx="53543" cy="6845641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BA21B5F-2E18-710A-7D79-8B5AB6F6F3D4}"/>
              </a:ext>
            </a:extLst>
          </p:cNvPr>
          <p:cNvCxnSpPr/>
          <p:nvPr/>
        </p:nvCxnSpPr>
        <p:spPr>
          <a:xfrm flipV="1">
            <a:off x="3605" y="32436"/>
            <a:ext cx="12189939" cy="22652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9A50ED5-0B36-A6ED-E151-83DAE4A88BB7}"/>
              </a:ext>
            </a:extLst>
          </p:cNvPr>
          <p:cNvSpPr/>
          <p:nvPr/>
        </p:nvSpPr>
        <p:spPr>
          <a:xfrm>
            <a:off x="1231557" y="345989"/>
            <a:ext cx="2654642" cy="3274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69CCFCE-0071-FDB0-D2F5-C9DCACD97F12}"/>
              </a:ext>
            </a:extLst>
          </p:cNvPr>
          <p:cNvSpPr/>
          <p:nvPr/>
        </p:nvSpPr>
        <p:spPr>
          <a:xfrm>
            <a:off x="7594000" y="344702"/>
            <a:ext cx="2582560" cy="22448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D16D6-5DEC-F2DC-3ED8-D8F50C10BC26}"/>
              </a:ext>
            </a:extLst>
          </p:cNvPr>
          <p:cNvSpPr txBox="1"/>
          <p:nvPr/>
        </p:nvSpPr>
        <p:spPr>
          <a:xfrm>
            <a:off x="9995446" y="4897001"/>
            <a:ext cx="189076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1000" dirty="0"/>
              <a:t>Женщины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4A101-D28B-4FEF-1533-F1AA9EE2EEFB}"/>
              </a:ext>
            </a:extLst>
          </p:cNvPr>
          <p:cNvSpPr txBox="1"/>
          <p:nvPr/>
        </p:nvSpPr>
        <p:spPr>
          <a:xfrm>
            <a:off x="7093685" y="4883201"/>
            <a:ext cx="198737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1000" dirty="0"/>
              <a:t>Мужчины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AD7FA98-015E-4BEF-D035-D48F09475B0E}"/>
              </a:ext>
            </a:extLst>
          </p:cNvPr>
          <p:cNvSpPr/>
          <p:nvPr/>
        </p:nvSpPr>
        <p:spPr>
          <a:xfrm>
            <a:off x="-7979" y="5140666"/>
            <a:ext cx="12200235" cy="40983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06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CAB85E-B2F5-35E6-D972-98E77EC892F5}"/>
              </a:ext>
            </a:extLst>
          </p:cNvPr>
          <p:cNvSpPr/>
          <p:nvPr/>
        </p:nvSpPr>
        <p:spPr>
          <a:xfrm>
            <a:off x="428368" y="448961"/>
            <a:ext cx="10985155" cy="9143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06C02DD-99BC-AD5A-EDBF-DC3D19749893}"/>
              </a:ext>
            </a:extLst>
          </p:cNvPr>
          <p:cNvSpPr/>
          <p:nvPr/>
        </p:nvSpPr>
        <p:spPr>
          <a:xfrm>
            <a:off x="530053" y="5771376"/>
            <a:ext cx="11139614" cy="61577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диаграмма, График, линия">
            <a:extLst>
              <a:ext uri="{FF2B5EF4-FFF2-40B4-BE49-F238E27FC236}">
                <a16:creationId xmlns:a16="http://schemas.microsoft.com/office/drawing/2014/main" id="{85CE99B9-A9BF-463F-17B2-732F1D419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" y="0"/>
            <a:ext cx="1219007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43A18A-A8EC-C3C7-389C-28E6515F049D}"/>
              </a:ext>
            </a:extLst>
          </p:cNvPr>
          <p:cNvSpPr txBox="1"/>
          <p:nvPr/>
        </p:nvSpPr>
        <p:spPr>
          <a:xfrm>
            <a:off x="1671448" y="2294364"/>
            <a:ext cx="876908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4400" b="1" dirty="0">
                <a:solidFill>
                  <a:srgbClr val="1F1F1F"/>
                </a:solidFill>
                <a:highlight>
                  <a:srgbClr val="FFFFFF"/>
                </a:highlight>
                <a:ea typeface="+mn-lt"/>
                <a:cs typeface="+mn-lt"/>
              </a:rPr>
              <a:t>Доля топ-15 городов: 58.6%</a:t>
            </a:r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1366551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Рисунок 1" descr="Изображение выглядит как текст, снимок экрана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16E9D2-21E5-E5F4-DAA6-90C511B427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" b="4715"/>
          <a:stretch>
            <a:fillRect/>
          </a:stretch>
        </p:blipFill>
        <p:spPr>
          <a:xfrm>
            <a:off x="20" y="10"/>
            <a:ext cx="12191979" cy="59855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C6E354-0709-D4A0-A4CB-17C4B236162C}"/>
              </a:ext>
            </a:extLst>
          </p:cNvPr>
          <p:cNvSpPr txBox="1"/>
          <p:nvPr/>
        </p:nvSpPr>
        <p:spPr>
          <a:xfrm>
            <a:off x="422347" y="6080773"/>
            <a:ext cx="11772442" cy="6668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/>
              <a:t>Пик активности:</a:t>
            </a:r>
            <a:r>
              <a:rPr lang="ru-RU" dirty="0"/>
              <a:t> </a:t>
            </a:r>
            <a:r>
              <a:rPr lang="ru-RU" dirty="0" err="1"/>
              <a:t>Tuesday</a:t>
            </a:r>
            <a:r>
              <a:rPr lang="ru-RU" dirty="0"/>
              <a:t> (142,704 транзакций).</a:t>
            </a:r>
          </a:p>
          <a:p>
            <a:r>
              <a:rPr lang="ru-RU" b="1" dirty="0"/>
              <a:t>Минимум активности: </a:t>
            </a:r>
            <a:r>
              <a:rPr lang="ru-RU" dirty="0" err="1"/>
              <a:t>Thursday</a:t>
            </a:r>
            <a:r>
              <a:rPr lang="ru-RU" dirty="0"/>
              <a:t> (107,994 транзакций)</a:t>
            </a:r>
            <a:endParaRPr lang="ru-RU" sz="2800" baseline="30000"/>
          </a:p>
        </p:txBody>
      </p:sp>
    </p:spTree>
    <p:extLst>
      <p:ext uri="{BB962C8B-B14F-4D97-AF65-F5344CB8AC3E}">
        <p14:creationId xmlns:p14="http://schemas.microsoft.com/office/powerpoint/2010/main" val="2771347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строительство, небо, на открытом воздухе, Коммерческое здание">
            <a:extLst>
              <a:ext uri="{FF2B5EF4-FFF2-40B4-BE49-F238E27FC236}">
                <a16:creationId xmlns:a16="http://schemas.microsoft.com/office/drawing/2014/main" id="{980A08FB-EB77-EDED-5247-97BD83C55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744" y="0"/>
            <a:ext cx="12380232" cy="6858000"/>
          </a:xfrm>
          <a:prstGeom prst="rect">
            <a:avLst/>
          </a:prstGeom>
          <a:ln>
            <a:solidFill>
              <a:srgbClr val="574B4B">
                <a:alpha val="15000"/>
              </a:srgbClr>
            </a:solidFill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67A4364-FCC3-CA03-401C-7268907917DC}"/>
              </a:ext>
            </a:extLst>
          </p:cNvPr>
          <p:cNvSpPr/>
          <p:nvPr/>
        </p:nvSpPr>
        <p:spPr>
          <a:xfrm>
            <a:off x="-92765" y="1104"/>
            <a:ext cx="12388571" cy="6855789"/>
          </a:xfrm>
          <a:prstGeom prst="rect">
            <a:avLst/>
          </a:prstGeom>
          <a:solidFill>
            <a:srgbClr val="1A1719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3B845-91ED-3357-F042-0C155AB7F363}"/>
              </a:ext>
            </a:extLst>
          </p:cNvPr>
          <p:cNvSpPr txBox="1"/>
          <p:nvPr/>
        </p:nvSpPr>
        <p:spPr>
          <a:xfrm>
            <a:off x="1631239" y="220444"/>
            <a:ext cx="999511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7200" b="1" dirty="0">
                <a:solidFill>
                  <a:schemeClr val="bg1"/>
                </a:solidFill>
              </a:rPr>
              <a:t>Спасибо за внимание!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185F1B-FAB4-0A5B-9C39-CFCB69C60CF9}"/>
              </a:ext>
            </a:extLst>
          </p:cNvPr>
          <p:cNvSpPr txBox="1"/>
          <p:nvPr/>
        </p:nvSpPr>
        <p:spPr>
          <a:xfrm>
            <a:off x="8028607" y="5295348"/>
            <a:ext cx="4019828" cy="12670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1350"/>
              </a:lnSpc>
            </a:pPr>
            <a:r>
              <a:rPr lang="ru-RU" sz="2800" b="1" baseline="30000" dirty="0">
                <a:solidFill>
                  <a:schemeClr val="bg1"/>
                </a:solidFill>
              </a:rPr>
              <a:t>Алексеева Анастасия Викторовна</a:t>
            </a:r>
            <a:r>
              <a:rPr lang="en-US" sz="2800" b="1" baseline="30000" dirty="0">
                <a:solidFill>
                  <a:schemeClr val="bg1"/>
                </a:solidFill>
              </a:rPr>
              <a:t>​</a:t>
            </a:r>
            <a:endParaRPr lang="en-US" sz="2800" b="1" baseline="30000">
              <a:solidFill>
                <a:schemeClr val="bg1"/>
              </a:solidFill>
            </a:endParaRPr>
          </a:p>
          <a:p>
            <a:pPr algn="ctr" rtl="0">
              <a:lnSpc>
                <a:spcPts val="1350"/>
              </a:lnSpc>
            </a:pPr>
            <a:r>
              <a:rPr lang="ru-RU" sz="2800" b="1" baseline="30000" dirty="0">
                <a:solidFill>
                  <a:schemeClr val="bg1"/>
                </a:solidFill>
              </a:rPr>
              <a:t>8-965-466-11-95</a:t>
            </a:r>
            <a:r>
              <a:rPr lang="en-US" sz="2800" b="1" baseline="30000" dirty="0">
                <a:solidFill>
                  <a:schemeClr val="bg1"/>
                </a:solidFill>
              </a:rPr>
              <a:t>​</a:t>
            </a:r>
            <a:endParaRPr lang="en-US" sz="2800" b="1" baseline="30000">
              <a:solidFill>
                <a:schemeClr val="bg1"/>
              </a:solidFill>
            </a:endParaRPr>
          </a:p>
          <a:p>
            <a:pPr algn="ctr" rtl="0">
              <a:lnSpc>
                <a:spcPts val="1350"/>
              </a:lnSpc>
            </a:pPr>
            <a:r>
              <a:rPr lang="ru-RU" sz="2800" b="1" baseline="30000" dirty="0">
                <a:solidFill>
                  <a:schemeClr val="bg1"/>
                </a:solidFill>
              </a:rPr>
              <a:t>@AnastasiaAlex09</a:t>
            </a:r>
            <a:r>
              <a:rPr lang="en-US" sz="2800" b="1" baseline="30000" dirty="0">
                <a:solidFill>
                  <a:schemeClr val="bg1"/>
                </a:solidFill>
              </a:rPr>
              <a:t>​</a:t>
            </a:r>
            <a:endParaRPr lang="en-US" sz="2800" b="1" baseline="30000">
              <a:solidFill>
                <a:schemeClr val="bg1"/>
              </a:solidFill>
            </a:endParaRPr>
          </a:p>
          <a:p>
            <a:pPr algn="ctr" rtl="0">
              <a:lnSpc>
                <a:spcPts val="1350"/>
              </a:lnSpc>
            </a:pPr>
            <a:r>
              <a:rPr lang="ru-RU" sz="2800" b="1" baseline="30000" dirty="0">
                <a:solidFill>
                  <a:schemeClr val="bg1"/>
                </a:solidFill>
              </a:rPr>
              <a:t>nas.telp09@gmail.com</a:t>
            </a:r>
            <a:endParaRPr lang="ru-RU" sz="2800" b="1" baseline="30000" dirty="0">
              <a:solidFill>
                <a:schemeClr val="bg1"/>
              </a:solidFill>
              <a:latin typeface="Calisto MT"/>
              <a:ea typeface="Segoe UI"/>
              <a:cs typeface="Segoe UI"/>
            </a:endParaRP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87720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ChronicleVTI</vt:lpstr>
      <vt:lpstr>Исследование банковских клиентов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484</cp:revision>
  <dcterms:created xsi:type="dcterms:W3CDTF">2025-12-11T08:03:10Z</dcterms:created>
  <dcterms:modified xsi:type="dcterms:W3CDTF">2025-12-11T11:50:47Z</dcterms:modified>
</cp:coreProperties>
</file>